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7"/>
  </p:notesMasterIdLst>
  <p:sldIdLst>
    <p:sldId id="256" r:id="rId3"/>
    <p:sldId id="257" r:id="rId4"/>
    <p:sldId id="271" r:id="rId5"/>
    <p:sldId id="272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Reports per Condition</c:v>
                </c:pt>
              </c:strCache>
            </c:strRef>
          </c:tx>
          <c:spPr>
            <a:solidFill>
              <a:srgbClr val="E53E3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E9E-4C0C-956A-7E9ADFCAE1BE}"/>
              </c:ext>
            </c:extLst>
          </c:dPt>
          <c:dPt>
            <c:idx val="1"/>
            <c:invertIfNegative val="0"/>
            <c:bubble3D val="0"/>
            <c:spPr>
              <a:solidFill>
                <a:srgbClr val="3182C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E9E-4C0C-956A-7E9ADFCAE1BE}"/>
              </c:ext>
            </c:extLst>
          </c:dPt>
          <c:dPt>
            <c:idx val="2"/>
            <c:invertIfNegative val="0"/>
            <c:bubble3D val="0"/>
            <c:spPr>
              <a:solidFill>
                <a:srgbClr val="38A1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E9E-4C0C-956A-7E9ADFCAE1BE}"/>
              </c:ext>
            </c:extLst>
          </c:dPt>
          <c:dPt>
            <c:idx val="3"/>
            <c:invertIfNegative val="0"/>
            <c:bubble3D val="0"/>
            <c:spPr>
              <a:solidFill>
                <a:srgbClr val="D69E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E9E-4C0C-956A-7E9ADFCAE1B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3333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Migraine</c:v>
                </c:pt>
                <c:pt idx="1">
                  <c:v>Asthma</c:v>
                </c:pt>
                <c:pt idx="2">
                  <c:v>Pneumonia</c:v>
                </c:pt>
                <c:pt idx="3">
                  <c:v>Diabetes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346</c:v>
                </c:pt>
                <c:pt idx="1">
                  <c:v>327</c:v>
                </c:pt>
                <c:pt idx="2">
                  <c:v>303</c:v>
                </c:pt>
                <c:pt idx="3">
                  <c:v>302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E9E-4C0C-956A-7E9ADFCAE1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3333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 Count</c:v>
                </c:pt>
              </c:strCache>
            </c:strRef>
          </c:tx>
          <c:spPr>
            <a:solidFill>
              <a:srgbClr val="E53E3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523-486B-9C7A-C5C57EF97F28}"/>
              </c:ext>
            </c:extLst>
          </c:dPt>
          <c:dPt>
            <c:idx val="1"/>
            <c:invertIfNegative val="0"/>
            <c:bubble3D val="0"/>
            <c:spPr>
              <a:solidFill>
                <a:srgbClr val="3182C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523-486B-9C7A-C5C57EF97F28}"/>
              </c:ext>
            </c:extLst>
          </c:dPt>
          <c:dPt>
            <c:idx val="2"/>
            <c:invertIfNegative val="0"/>
            <c:bubble3D val="0"/>
            <c:spPr>
              <a:solidFill>
                <a:srgbClr val="38A1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523-486B-9C7A-C5C57EF97F28}"/>
              </c:ext>
            </c:extLst>
          </c:dPt>
          <c:dPt>
            <c:idx val="3"/>
            <c:invertIfNegative val="0"/>
            <c:bubble3D val="0"/>
            <c:spPr>
              <a:solidFill>
                <a:srgbClr val="D69E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523-486B-9C7A-C5C57EF97F28}"/>
              </c:ext>
            </c:extLst>
          </c:dPt>
          <c:dPt>
            <c:idx val="4"/>
            <c:invertIfNegative val="0"/>
            <c:bubble3D val="0"/>
            <c:spPr>
              <a:solidFill>
                <a:srgbClr val="805AD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523-486B-9C7A-C5C57EF97F2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3333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18-30</c:v>
                </c:pt>
                <c:pt idx="1">
                  <c:v>31-45</c:v>
                </c:pt>
                <c:pt idx="2">
                  <c:v>46-60</c:v>
                </c:pt>
                <c:pt idx="3">
                  <c:v>61-75</c:v>
                </c:pt>
                <c:pt idx="4">
                  <c:v>76-90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609</c:v>
                </c:pt>
                <c:pt idx="1">
                  <c:v>668</c:v>
                </c:pt>
                <c:pt idx="2">
                  <c:v>735</c:v>
                </c:pt>
                <c:pt idx="3">
                  <c:v>679</c:v>
                </c:pt>
                <c:pt idx="4">
                  <c:v>309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523-486B-9C7A-C5C57EF97F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3333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5737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86ADE-0016-2992-5386-BA98BDE58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CBE205-1252-7C72-13B8-EA2E76F2C5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EB202E-7BC4-31B4-D7C6-556692B0E7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9A4BA-76F9-463B-CC83-E7E5F29327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2940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7EF7E-FB11-A61D-066D-4D0697EFE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BB187A-A26B-E2E1-5C67-E4001DA77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B2E19B-92E0-03E2-BDED-CF4762376B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F6A59-4753-760E-D0B7-DE85A3590E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7301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664975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11123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583463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7/20/2026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04458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7/20/2026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67013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7/20/2026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9956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7/20/2026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93700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7/20/2026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00047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7/20/2026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8079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77167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20367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2776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496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55911" y="761981"/>
            <a:ext cx="5079873" cy="507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42684" y="2219823"/>
            <a:ext cx="8971056" cy="11302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Clinical NLP 
AUTOMATED MEDICAL REPORT SUMMARIZATION</a:t>
            </a:r>
            <a:r>
              <a:rPr lang="en-US" sz="2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1015975" y="4739522"/>
            <a:ext cx="10159746" cy="38099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15975" y="5130672"/>
            <a:ext cx="10159746" cy="507987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Mandeep Kaur
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15975" y="3809905"/>
            <a:ext cx="11130001" cy="507987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15975" y="4381390"/>
            <a:ext cx="10413740" cy="507987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5486263" cy="6812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64793" y="1320767"/>
            <a:ext cx="5481182" cy="55370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
</a:t>
            </a:r>
            <a:endParaRPr lang="en-US" sz="3600" b="1" dirty="0"/>
          </a:p>
        </p:txBody>
      </p:sp>
      <p:sp>
        <p:nvSpPr>
          <p:cNvPr id="5" name="Text 2"/>
          <p:cNvSpPr/>
          <p:nvPr/>
        </p:nvSpPr>
        <p:spPr>
          <a:xfrm>
            <a:off x="6291779" y="2059630"/>
            <a:ext cx="5147552" cy="69340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reports are written in plain, everyday language and follow up notes, treatment, symptoms and diagnoses.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dirty="0"/>
              <a:t>Computers can't understand plain text directly 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dirty="0"/>
              <a:t>so we use NLP as It turns messy, unorganized reports into useful, structured information.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dirty="0"/>
              <a:t>It saves doctors time and helps them make quicker, better decisions.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E3666-BDCF-27DE-FC25-48CF14736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BCD4AEA-1734-79CB-60D3-DD8DACE02756}"/>
              </a:ext>
            </a:extLst>
          </p:cNvPr>
          <p:cNvSpPr/>
          <p:nvPr/>
        </p:nvSpPr>
        <p:spPr>
          <a:xfrm>
            <a:off x="6664793" y="1320767"/>
            <a:ext cx="5481182" cy="55370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
</a:t>
            </a:r>
            <a:endParaRPr lang="en-US" sz="3600" b="1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FBA16A-7898-C5BD-1AFD-A2A4BDE88ADB}"/>
              </a:ext>
            </a:extLst>
          </p:cNvPr>
          <p:cNvSpPr/>
          <p:nvPr/>
        </p:nvSpPr>
        <p:spPr>
          <a:xfrm>
            <a:off x="6291780" y="2204148"/>
            <a:ext cx="5147552" cy="27968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Hospitals generate thousands of medical reports daily.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Reading long reports takes a lot of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Doctors need quick access to key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AI can automatically summarize reports and even predict the medical condition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66FC566-58C6-F1F7-C11A-37ADE7F04172}"/>
              </a:ext>
            </a:extLst>
          </p:cNvPr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D15F0C28-3322-6C4E-0E95-8B39FFCD85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59002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287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BEB67-074A-721D-88D6-012C719E0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444493D-8F26-CC52-3C1F-86076B663063}"/>
              </a:ext>
            </a:extLst>
          </p:cNvPr>
          <p:cNvSpPr/>
          <p:nvPr/>
        </p:nvSpPr>
        <p:spPr>
          <a:xfrm>
            <a:off x="6664793" y="1320767"/>
            <a:ext cx="5481182" cy="55370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
</a:t>
            </a:r>
            <a:endParaRPr lang="en-US" sz="3600" b="1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3471B81-FC46-E3AC-0192-1A6EB1D6B1A6}"/>
              </a:ext>
            </a:extLst>
          </p:cNvPr>
          <p:cNvSpPr/>
          <p:nvPr/>
        </p:nvSpPr>
        <p:spPr>
          <a:xfrm>
            <a:off x="6291779" y="2059630"/>
            <a:ext cx="5147552" cy="69340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Medical reports are usually long and unstructured.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Important clinical information is difficult to identify quickly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Manual analysis is time-consuming.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So we need an automated system that can:</a:t>
            </a:r>
          </a:p>
          <a:p>
            <a:r>
              <a:rPr lang="en-IN" dirty="0"/>
              <a:t>      Predict diseases </a:t>
            </a:r>
          </a:p>
          <a:p>
            <a:r>
              <a:rPr lang="en-IN" dirty="0"/>
              <a:t>      Extract key findings </a:t>
            </a:r>
          </a:p>
          <a:p>
            <a:r>
              <a:rPr lang="en-IN" dirty="0"/>
              <a:t>      Generate summaries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556893D-5B58-A172-E1AA-F5D91D869DBB}"/>
              </a:ext>
            </a:extLst>
          </p:cNvPr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B3DB9F98-747E-2958-8529-8CFAAD68A5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465" y="-18288"/>
            <a:ext cx="5147552" cy="681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077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4001" y="703056"/>
            <a:ext cx="10159746" cy="87170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Clinical NLP</a:t>
            </a:r>
            <a:r>
              <a:rPr lang="en-US" sz="2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380990" y="1777956"/>
            <a:ext cx="3606710" cy="3365544"/>
          </a:xfrm>
          <a:prstGeom prst="rect">
            <a:avLst/>
          </a:prstGeom>
          <a:noFill/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990" y="1777956"/>
            <a:ext cx="3606710" cy="23367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0990" y="4419490"/>
            <a:ext cx="3606710" cy="45718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Clinical NLP Application</a:t>
            </a: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33386" y="4846199"/>
            <a:ext cx="3606710" cy="152396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Clinical NLP application using Python to automate the processing of medical reports.</a:t>
            </a: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292493" y="1777956"/>
            <a:ext cx="3606710" cy="3365544"/>
          </a:xfrm>
          <a:prstGeom prst="rect">
            <a:avLst/>
          </a:prstGeom>
          <a:noFill/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92493" y="1777956"/>
            <a:ext cx="3606710" cy="23367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92493" y="4419490"/>
            <a:ext cx="3606710" cy="45718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Medical Reports</a:t>
            </a: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292492" y="4896872"/>
            <a:ext cx="3606710" cy="152396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preprocessing techniques to improve data quality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8203995" y="1777956"/>
            <a:ext cx="940005" cy="3365544"/>
          </a:xfrm>
          <a:prstGeom prst="rect">
            <a:avLst/>
          </a:prstGeom>
          <a:noFill/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03995" y="1777956"/>
            <a:ext cx="3606710" cy="23367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03995" y="4419490"/>
            <a:ext cx="3606710" cy="45718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Medical Conditions
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8203995" y="4881632"/>
            <a:ext cx="3606710" cy="152396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Utilize machine learning algorithms to analyze textual data from reports.</a:t>
            </a: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38" y="761981"/>
            <a:ext cx="8140496" cy="533387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Technological Framework</a:t>
            </a:r>
            <a:r>
              <a:rPr lang="en-US" sz="2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75481" y="0"/>
            <a:ext cx="3370495" cy="6812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80990" y="1727157"/>
            <a:ext cx="3962301" cy="2438339"/>
          </a:xfrm>
          <a:prstGeom prst="rect">
            <a:avLst/>
          </a:prstGeom>
          <a:noFill/>
          <a:ln/>
        </p:spPr>
      </p:sp>
      <p:sp>
        <p:nvSpPr>
          <p:cNvPr id="7" name="Shape 4"/>
          <p:cNvSpPr/>
          <p:nvPr/>
        </p:nvSpPr>
        <p:spPr>
          <a:xfrm>
            <a:off x="4546486" y="1727157"/>
            <a:ext cx="3962301" cy="2438339"/>
          </a:xfrm>
          <a:prstGeom prst="rect">
            <a:avLst/>
          </a:prstGeom>
          <a:noFill/>
          <a:ln/>
        </p:spPr>
      </p:sp>
      <p:sp>
        <p:nvSpPr>
          <p:cNvPr id="10" name="Shape 7"/>
          <p:cNvSpPr/>
          <p:nvPr/>
        </p:nvSpPr>
        <p:spPr>
          <a:xfrm>
            <a:off x="380990" y="4673483"/>
            <a:ext cx="8140496" cy="470017"/>
          </a:xfrm>
          <a:prstGeom prst="rect">
            <a:avLst/>
          </a:prstGeom>
          <a:noFill/>
          <a:ln/>
        </p:spPr>
      </p:sp>
      <p:sp>
        <p:nvSpPr>
          <p:cNvPr id="13" name="Text 10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E24CA8C9-2518-CD34-F482-97419CB88984}"/>
              </a:ext>
            </a:extLst>
          </p:cNvPr>
          <p:cNvSpPr/>
          <p:nvPr/>
        </p:nvSpPr>
        <p:spPr>
          <a:xfrm>
            <a:off x="573884" y="1703344"/>
            <a:ext cx="7516819" cy="69340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NLTK (Natural Language Toolkit) – a Python library for text processing. Here, its sentence tokenizer splits each report into sentences so we can pull out the key ones. NLTK also covers other common NLP techniques:</a:t>
            </a:r>
          </a:p>
          <a:p>
            <a:r>
              <a:rPr lang="en-IN" sz="1600" dirty="0"/>
              <a:t>      Tokenization – splits a sentence into individual words (tokens)</a:t>
            </a:r>
          </a:p>
          <a:p>
            <a:r>
              <a:rPr lang="en-IN" sz="1600" dirty="0"/>
              <a:t>      Stopwords – removes common filler words like “the”, “is”, “a”</a:t>
            </a:r>
          </a:p>
          <a:p>
            <a:r>
              <a:rPr lang="en-IN" sz="1600" dirty="0"/>
              <a:t>      Stemming – trims a word down to its root, e.g. running → run, treatment → treat</a:t>
            </a:r>
          </a:p>
          <a:p>
            <a:r>
              <a:rPr lang="en-IN" sz="1600" dirty="0"/>
              <a:t>      Lemmatization – converts a word to its dictionary form, e.g. headaches → headache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Hugging Face Transformers – ready-made AI models such as DistilBART and T5, used to generate short summaries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TF-IDF (Term Frequency–Inverse Document Frequency) – turns text into numbers (up to 10,000 word combinations), giving more weight to important words and automatically skipping common filler words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Plus scikit-learn for the machine learning model, and Python, NumPy, and Pandas for handling the data</a:t>
            </a:r>
            <a:endParaRPr lang="en-US" sz="1450" dirty="0"/>
          </a:p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IN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975" y="761981"/>
            <a:ext cx="10159746" cy="87170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
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1325870" y="1263555"/>
            <a:ext cx="3606710" cy="3365544"/>
          </a:xfrm>
          <a:prstGeom prst="rect">
            <a:avLst/>
          </a:prstGeom>
          <a:noFill/>
          <a:ln/>
        </p:spPr>
      </p:sp>
      <p:sp>
        <p:nvSpPr>
          <p:cNvPr id="7" name="Shape 4"/>
          <p:cNvSpPr/>
          <p:nvPr/>
        </p:nvSpPr>
        <p:spPr>
          <a:xfrm>
            <a:off x="4292493" y="1777956"/>
            <a:ext cx="3606710" cy="3365544"/>
          </a:xfrm>
          <a:prstGeom prst="rect">
            <a:avLst/>
          </a:prstGeom>
          <a:noFill/>
          <a:ln/>
        </p:spPr>
      </p:sp>
      <p:sp>
        <p:nvSpPr>
          <p:cNvPr id="11" name="Shape 7"/>
          <p:cNvSpPr/>
          <p:nvPr/>
        </p:nvSpPr>
        <p:spPr>
          <a:xfrm>
            <a:off x="8203995" y="1777956"/>
            <a:ext cx="940005" cy="3365544"/>
          </a:xfrm>
          <a:prstGeom prst="rect">
            <a:avLst/>
          </a:prstGeom>
          <a:noFill/>
          <a:ln/>
        </p:spPr>
      </p:sp>
      <p:sp>
        <p:nvSpPr>
          <p:cNvPr id="15" name="Text 10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E910BF8F-E250-C7AF-032B-C65541FB1F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91778" y="0"/>
            <a:ext cx="5900222" cy="6858000"/>
          </a:xfrm>
          <a:prstGeom prst="rect">
            <a:avLst/>
          </a:prstGeom>
        </p:spPr>
      </p:pic>
      <p:sp>
        <p:nvSpPr>
          <p:cNvPr id="19" name="Text 2">
            <a:extLst>
              <a:ext uri="{FF2B5EF4-FFF2-40B4-BE49-F238E27FC236}">
                <a16:creationId xmlns:a16="http://schemas.microsoft.com/office/drawing/2014/main" id="{0C7366DE-8CF8-C444-49BF-7EBB597D9390}"/>
              </a:ext>
            </a:extLst>
          </p:cNvPr>
          <p:cNvSpPr/>
          <p:nvPr/>
        </p:nvSpPr>
        <p:spPr>
          <a:xfrm>
            <a:off x="394147" y="1389314"/>
            <a:ext cx="5335321" cy="3496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000" dirty="0"/>
              <a:t>Medical reports were used as the input dataset.</a:t>
            </a:r>
          </a:p>
          <a:p>
            <a:endParaRPr lang="en-IN" sz="2000" dirty="0"/>
          </a:p>
          <a:p>
            <a:r>
              <a:rPr lang="en-IN" sz="2000" dirty="0"/>
              <a:t>Each report contains patient symptoms, diagnosis, treatment, and follow-up information.</a:t>
            </a:r>
          </a:p>
          <a:p>
            <a:endParaRPr lang="en-IN" sz="2000" dirty="0"/>
          </a:p>
          <a:p>
            <a:r>
              <a:rPr lang="en-IN" sz="2000" dirty="0"/>
              <a:t>Disease labels are used to train the prediction model.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975" y="761981"/>
            <a:ext cx="10159746" cy="66038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Medical Reports
</a:t>
            </a:r>
            <a:endParaRPr lang="en-US" sz="29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1015975" y="2184345"/>
          <a:ext cx="10159746" cy="36575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975" y="761981"/>
            <a:ext cx="10159746" cy="66038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Distribution of Patients
</a:t>
            </a:r>
            <a:endParaRPr lang="en-US" sz="29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1015975" y="2184345"/>
          <a:ext cx="10159746" cy="36575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975" y="761981"/>
            <a:ext cx="10159746" cy="66038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of Clinical NLP
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2699F0B8-6EEE-E5B4-F905-3C5D3A5B00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35790" y="0"/>
            <a:ext cx="5156210" cy="6858000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8AF58612-3259-CA13-1851-BF599071BB3A}"/>
              </a:ext>
            </a:extLst>
          </p:cNvPr>
          <p:cNvSpPr/>
          <p:nvPr/>
        </p:nvSpPr>
        <p:spPr>
          <a:xfrm>
            <a:off x="1690086" y="2781922"/>
            <a:ext cx="10789920" cy="2120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000" dirty="0"/>
              <a:t> Medical Report</a:t>
            </a:r>
          </a:p>
          <a:p>
            <a:r>
              <a:rPr lang="en-IN" sz="2000" dirty="0"/>
              <a:t>       ↓</a:t>
            </a:r>
          </a:p>
          <a:p>
            <a:r>
              <a:rPr lang="en-IN" sz="2000" dirty="0"/>
              <a:t>Text Preprocessing</a:t>
            </a:r>
          </a:p>
          <a:p>
            <a:r>
              <a:rPr lang="en-IN" sz="2000" dirty="0"/>
              <a:t>       ↓</a:t>
            </a:r>
          </a:p>
          <a:p>
            <a:r>
              <a:rPr lang="en-IN" sz="2000" dirty="0"/>
              <a:t>TF-IDF Vectorization</a:t>
            </a:r>
          </a:p>
          <a:p>
            <a:r>
              <a:rPr lang="en-IN" sz="2000" dirty="0"/>
              <a:t>       ↓</a:t>
            </a:r>
          </a:p>
          <a:p>
            <a:r>
              <a:rPr lang="en-IN" sz="2000" dirty="0"/>
              <a:t>Machine Learning Model</a:t>
            </a:r>
          </a:p>
          <a:p>
            <a:r>
              <a:rPr lang="en-IN" sz="2000" dirty="0"/>
              <a:t>       ↓</a:t>
            </a:r>
          </a:p>
          <a:p>
            <a:r>
              <a:rPr lang="en-IN" sz="2000" dirty="0"/>
              <a:t>Disease Prediction</a:t>
            </a:r>
          </a:p>
          <a:p>
            <a:r>
              <a:rPr lang="en-IN" sz="2000" dirty="0"/>
              <a:t>       ↓</a:t>
            </a:r>
          </a:p>
          <a:p>
            <a:r>
              <a:rPr lang="en-IN" sz="2000" dirty="0"/>
              <a:t>Key Findings Extraction</a:t>
            </a:r>
          </a:p>
          <a:p>
            <a:r>
              <a:rPr lang="en-IN" sz="2000" dirty="0"/>
              <a:t>       ↓</a:t>
            </a:r>
          </a:p>
          <a:p>
            <a:r>
              <a:rPr lang="en-IN" sz="2000" dirty="0"/>
              <a:t>AI Summary Generation</a:t>
            </a:r>
          </a:p>
          <a:p>
            <a:r>
              <a:rPr lang="en-IN" sz="2000" dirty="0"/>
              <a:t>       ↓</a:t>
            </a:r>
          </a:p>
          <a:p>
            <a:r>
              <a:rPr lang="en-IN" sz="2000" dirty="0"/>
              <a:t>Streamlit Application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0" y="783182"/>
            <a:ext cx="10159746" cy="87170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Techniques</a:t>
            </a:r>
            <a:r>
              <a:rPr lang="en-US" sz="2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380990" y="1777956"/>
            <a:ext cx="3606710" cy="3365544"/>
          </a:xfrm>
          <a:prstGeom prst="rect">
            <a:avLst/>
          </a:prstGeom>
          <a:noFill/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990" y="1777956"/>
            <a:ext cx="3606710" cy="23367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0990" y="4419490"/>
            <a:ext cx="3606710" cy="45718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 Reports</a:t>
            </a: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80990" y="5079873"/>
            <a:ext cx="3606710" cy="152396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duplicate reports is crucial for maintaining dataset integrity.</a:t>
            </a: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292493" y="1777956"/>
            <a:ext cx="3606710" cy="3365544"/>
          </a:xfrm>
          <a:prstGeom prst="rect">
            <a:avLst/>
          </a:prstGeom>
          <a:noFill/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92493" y="1777956"/>
            <a:ext cx="3606710" cy="23367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92493" y="4419490"/>
            <a:ext cx="3606710" cy="45718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292493" y="5079873"/>
            <a:ext cx="3606710" cy="152396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r>
              <a:rPr lang="en-IN" sz="1600" dirty="0"/>
              <a:t>Fill missing Condition / Gender with “Unknown”</a:t>
            </a:r>
          </a:p>
          <a:p>
            <a:r>
              <a:rPr lang="en-IN" sz="1600" dirty="0"/>
              <a:t>Fill missing Age / Follow-up weeks with the median value</a:t>
            </a:r>
          </a:p>
        </p:txBody>
      </p:sp>
      <p:sp>
        <p:nvSpPr>
          <p:cNvPr id="11" name="Shape 7"/>
          <p:cNvSpPr/>
          <p:nvPr/>
        </p:nvSpPr>
        <p:spPr>
          <a:xfrm>
            <a:off x="8203995" y="1777956"/>
            <a:ext cx="940005" cy="3365544"/>
          </a:xfrm>
          <a:prstGeom prst="rect">
            <a:avLst/>
          </a:prstGeom>
          <a:noFill/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03995" y="1777956"/>
            <a:ext cx="3606710" cy="23367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03995" y="4419490"/>
            <a:ext cx="3606710" cy="45718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</a:t>
            </a: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203995" y="5079873"/>
            <a:ext cx="3606710" cy="152396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Collapsing extra spaces and removing unwanted symbols results in cleaner text</a:t>
            </a: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975" y="761981"/>
            <a:ext cx="8140496" cy="533387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Text into Features
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75481" y="0"/>
            <a:ext cx="3370495" cy="6812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80990" y="1727157"/>
            <a:ext cx="3962301" cy="2438339"/>
          </a:xfrm>
          <a:prstGeom prst="rect">
            <a:avLst/>
          </a:prstGeom>
          <a:noFill/>
          <a:ln/>
        </p:spPr>
      </p:sp>
      <p:sp>
        <p:nvSpPr>
          <p:cNvPr id="5" name="Text 2"/>
          <p:cNvSpPr/>
          <p:nvPr/>
        </p:nvSpPr>
        <p:spPr>
          <a:xfrm>
            <a:off x="634984" y="1955751"/>
            <a:ext cx="3454314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Input Requirement</a:t>
            </a: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34984" y="2362141"/>
            <a:ext cx="3454314" cy="1574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cannot process text directly; they require numerical input. TF-IDF transforms text into numerical vectors, enabling effective analysis and predictions from medical reports.
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46486" y="1727157"/>
            <a:ext cx="3962301" cy="2438339"/>
          </a:xfrm>
          <a:prstGeom prst="rect">
            <a:avLst/>
          </a:prstGeom>
          <a:noFill/>
          <a:ln/>
        </p:spPr>
      </p:sp>
      <p:sp>
        <p:nvSpPr>
          <p:cNvPr id="8" name="Text 5"/>
          <p:cNvSpPr/>
          <p:nvPr/>
        </p:nvSpPr>
        <p:spPr>
          <a:xfrm>
            <a:off x="4800480" y="1955751"/>
            <a:ext cx="3454314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Patterns from Data</a:t>
            </a: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800480" y="2362141"/>
            <a:ext cx="3454314" cy="1574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cannot process text directly; they require numerical input. TF-IDF transforms text into numerical vectors, enabling effective analysis and predictions from medical reports.
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80990" y="4673483"/>
            <a:ext cx="8140496" cy="470017"/>
          </a:xfrm>
          <a:prstGeom prst="rect">
            <a:avLst/>
          </a:prstGeom>
          <a:noFill/>
          <a:ln/>
        </p:spPr>
      </p:sp>
      <p:sp>
        <p:nvSpPr>
          <p:cNvPr id="11" name="Text 8"/>
          <p:cNvSpPr/>
          <p:nvPr/>
        </p:nvSpPr>
        <p:spPr>
          <a:xfrm>
            <a:off x="622285" y="4275329"/>
            <a:ext cx="7632509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Emphasizing Important Words</a:t>
            </a: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27036" y="4783315"/>
            <a:ext cx="7632509" cy="1066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prioritizes significant words while filtering out common terms. This process reduces noise, ensuring that the model focuses on relevant information for disease prediction.
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975" y="761981"/>
            <a:ext cx="10159746" cy="87170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Methodology
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380990" y="1777956"/>
            <a:ext cx="3606710" cy="3365544"/>
          </a:xfrm>
          <a:prstGeom prst="rect">
            <a:avLst/>
          </a:prstGeom>
          <a:noFill/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990" y="1777956"/>
            <a:ext cx="3606710" cy="23367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0990" y="4419490"/>
            <a:ext cx="3606710" cy="45718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Splitting Strategy</a:t>
            </a: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80990" y="5079873"/>
            <a:ext cx="3606710" cy="152396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are divided into training (80%) and testing (20%) datasets. </a:t>
            </a: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292493" y="1777956"/>
            <a:ext cx="3606710" cy="3365544"/>
          </a:xfrm>
          <a:prstGeom prst="rect">
            <a:avLst/>
          </a:prstGeom>
          <a:noFill/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92493" y="1777956"/>
            <a:ext cx="3606710" cy="23367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92493" y="4419490"/>
            <a:ext cx="3606710" cy="45718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Model</a:t>
            </a: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292493" y="5079873"/>
            <a:ext cx="3606710" cy="152396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This ensures that the model is trained effectively while maintaining a robust evaluation process for accuracy.</a:t>
            </a: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03995" y="1777956"/>
            <a:ext cx="940005" cy="3365544"/>
          </a:xfrm>
          <a:prstGeom prst="rect">
            <a:avLst/>
          </a:prstGeom>
          <a:noFill/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03995" y="1777956"/>
            <a:ext cx="3606710" cy="23367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03995" y="4419490"/>
            <a:ext cx="3606710" cy="45718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 Learning</a:t>
            </a: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203995" y="5079873"/>
            <a:ext cx="3606710" cy="152396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convert text into numerical representations. This allows the algorithm to identify patterns in the text, enhancing prediction accuracy.</a:t>
            </a: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8" y="838265"/>
            <a:ext cx="8140496" cy="533387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Directions
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75481" y="0"/>
            <a:ext cx="3370495" cy="6812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80990" y="1727157"/>
            <a:ext cx="3962301" cy="2438339"/>
          </a:xfrm>
          <a:prstGeom prst="rect">
            <a:avLst/>
          </a:prstGeom>
          <a:noFill/>
          <a:ln/>
        </p:spPr>
      </p:sp>
      <p:sp>
        <p:nvSpPr>
          <p:cNvPr id="5" name="Text 2"/>
          <p:cNvSpPr/>
          <p:nvPr/>
        </p:nvSpPr>
        <p:spPr>
          <a:xfrm>
            <a:off x="634984" y="1955751"/>
            <a:ext cx="3454314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in Report Analysis</a:t>
            </a: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34983" y="2362141"/>
            <a:ext cx="6761239" cy="1574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the time doctors spend on reading lengthy documents by up to 50%, allowing for quicker decision-making.
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46486" y="1727157"/>
            <a:ext cx="3962301" cy="2438339"/>
          </a:xfrm>
          <a:prstGeom prst="rect">
            <a:avLst/>
          </a:prstGeom>
          <a:noFill/>
          <a:ln/>
        </p:spPr>
      </p:sp>
      <p:sp>
        <p:nvSpPr>
          <p:cNvPr id="10" name="Shape 7"/>
          <p:cNvSpPr/>
          <p:nvPr/>
        </p:nvSpPr>
        <p:spPr>
          <a:xfrm>
            <a:off x="380990" y="4673483"/>
            <a:ext cx="8140496" cy="470017"/>
          </a:xfrm>
          <a:prstGeom prst="rect">
            <a:avLst/>
          </a:prstGeom>
          <a:noFill/>
          <a:ln/>
        </p:spPr>
      </p:sp>
      <p:sp>
        <p:nvSpPr>
          <p:cNvPr id="11" name="Text 8"/>
          <p:cNvSpPr/>
          <p:nvPr/>
        </p:nvSpPr>
        <p:spPr>
          <a:xfrm>
            <a:off x="634983" y="3505199"/>
            <a:ext cx="7632509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Developments</a:t>
            </a: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27036" y="3962474"/>
            <a:ext cx="7632509" cy="1066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developments may include more advanced models and broader datasets.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solidFill>
                  <a:srgbClr val="0B2B30"/>
                </a:solidFill>
              </a:rPr>
              <a:t>The model predicts medical conditions with an more than </a:t>
            </a:r>
            <a:r>
              <a:rPr lang="en-IN" sz="1600" b="1" dirty="0">
                <a:solidFill>
                  <a:srgbClr val="0B2B30"/>
                </a:solidFill>
              </a:rPr>
              <a:t>accuracy of 94.8%</a:t>
            </a:r>
            <a:r>
              <a:rPr lang="en-IN" sz="1600" dirty="0">
                <a:solidFill>
                  <a:srgbClr val="0B2B30"/>
                </a:solidFill>
              </a:rPr>
              <a:t> — a strong result.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2F71898D-6399-63F2-F318-4017659FC2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775481" y="45720"/>
            <a:ext cx="3370495" cy="6812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858</Words>
  <Application>Microsoft Office PowerPoint</Application>
  <PresentationFormat>Widescreen</PresentationFormat>
  <Paragraphs>142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Mandeep Kaur</cp:lastModifiedBy>
  <cp:revision>2</cp:revision>
  <dcterms:created xsi:type="dcterms:W3CDTF">2026-07-20T16:35:08Z</dcterms:created>
  <dcterms:modified xsi:type="dcterms:W3CDTF">2026-07-20T17:13:09Z</dcterms:modified>
</cp:coreProperties>
</file>